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8370d3c-8662-755e-8d1c-4077cdeef253}">
          <p14:sldIdLst>
            <p14:sldId id="256"/>
          </p14:sldIdLst>
        </p14:section>
        <p14:section name="Problem" id="{9cf0609c-e0ce-6609-6788-6eb05bc00239}">
          <p14:sldIdLst>
            <p14:sldId id="257"/>
          </p14:sldIdLst>
        </p14:section>
        <p14:section name="Method" id="{84a443b7-6ab1-15f4-ab35-e5fa0499593d}">
          <p14:sldIdLst>
            <p14:sldId id="258"/>
          </p14:sldIdLst>
        </p14:section>
        <p14:section name="Results" id="{5b47a1a7-1383-1419-fd06-1a0067483cdc}">
          <p14:sldIdLst>
            <p14:sldId id="259"/>
            <p14:sldId id="260"/>
          </p14:sldIdLst>
        </p14:section>
        <p14:section name="Takeaway" id="{213f7811-7c3a-8155-99c0-ce87dc4df64d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Test-set scores (154 patients)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ROC-AUC</c:v>
                  </c:pt>
                  <c:pt idx="1">
                    <c:v>Recall</c:v>
                  </c:pt>
                  <c:pt idx="2">
                    <c:v>Precision</c:v>
                  </c:pt>
                  <c:pt idx="3">
                    <c:v>F1</c:v>
                  </c:pt>
                  <c:pt idx="4">
                    <c:v>Accuracy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0.819</c:v>
                </c:pt>
                <c:pt idx="1">
                  <c:v>0.519</c:v>
                </c:pt>
                <c:pt idx="2">
                  <c:v>0.596</c:v>
                </c:pt>
                <c:pt idx="3">
                  <c:v>0.554</c:v>
                </c:pt>
                <c:pt idx="4">
                  <c:v>0.708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ROC-AUC</c:v>
                  </c:pt>
                  <c:pt idx="1">
                    <c:v>Recall</c:v>
                  </c:pt>
                  <c:pt idx="2">
                    <c:v>Precision</c:v>
                  </c:pt>
                  <c:pt idx="3">
                    <c:v>F1</c:v>
                  </c:pt>
                  <c:pt idx="4">
                    <c:v>Accuracy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0.82</c:v>
                </c:pt>
                <c:pt idx="1">
                  <c:v>0.593</c:v>
                </c:pt>
                <c:pt idx="2">
                  <c:v>0.653</c:v>
                </c:pt>
                <c:pt idx="3">
                  <c:v>0.621</c:v>
                </c:pt>
                <c:pt idx="4">
                  <c:v>0.747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DE5E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B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Random forest: top 6 features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Glucose_BMI</c:v>
                  </c:pt>
                  <c:pt idx="1">
                    <c:v>Glucose</c:v>
                  </c:pt>
                  <c:pt idx="2">
                    <c:v>BMI</c:v>
                  </c:pt>
                  <c:pt idx="3">
                    <c:v>Pedigree function</c:v>
                  </c:pt>
                  <c:pt idx="4">
                    <c:v>Age</c:v>
                  </c:pt>
                  <c:pt idx="5">
                    <c:v>Insulin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0.222</c:v>
                </c:pt>
                <c:pt idx="1">
                  <c:v>0.177</c:v>
                </c:pt>
                <c:pt idx="2">
                  <c:v>0.112</c:v>
                </c:pt>
                <c:pt idx="3">
                  <c:v>0.103</c:v>
                </c:pt>
                <c:pt idx="4">
                  <c:v>0.09</c:v>
                </c:pt>
                <c:pt idx="5">
                  <c:v>0.065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ask whether a more complex model beats a simple one for predicting diabetes onset on a classic small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matters: early detection helps. The Pima dataset is a classic benchmark. Earlier studies reached about 76 to 79 percent accuracy, and results were mixed on whether complex models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design choice: split before imputing so no test information leaks into training. Primary metric is ROC-AUC because of mild class imbalance. Recall matters because missing a patient is the costly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models are statistically hard to separate. With only 154 test patients, a few points of difference can come from the split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Glucose_BMI is built from glucose and BMI, so importance is partly shared among them. In a screening setting, missing a diabetic patient is the costly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restating: a simple, interpretable model was as good as the ensemble here. Real screening would need better recall and larger, more diverse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Predicting Diabetes Onset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Logistic regression versus random forest on the Pima Indians dataset</a:t>
            </a:r>
            <a:endParaRPr lang="en-US" sz="2200" dirty="0"/>
          </a:p>
        </p:txBody>
      </p:sp>
      <p:sp>
        <p:nvSpPr>
          <p:cNvPr id="4" name="Author"/>
          <p:cNvSpPr txBox="1"/>
          <p:nvPr/>
        </p:nvSpPr>
        <p:spPr>
          <a:xfrm>
            <a:off x="548640" y="28803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Adnan Shamim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7FB7BE"/>
                </a:solidFill>
              </a:rPr>
              <a:t>October 2026</a:t>
            </a:r>
            <a:endParaRPr lang="en-US" sz="2000" dirty="0"/>
          </a:p>
        </p:txBody>
      </p:sp>
      <p:sp>
        <p:nvSpPr>
          <p:cNvPr id="5" name="Motif dot"/>
          <p:cNvSpPr/>
          <p:nvPr/>
        </p:nvSpPr>
        <p:spPr>
          <a:xfrm>
            <a:off x="548640" y="42062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agline"/>
          <p:cNvSpPr txBox="1"/>
          <p:nvPr/>
        </p:nvSpPr>
        <p:spPr>
          <a:xfrm>
            <a:off x="1097280" y="41605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768 patients  ·  8 clinical measurements  ·  2 models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Question card"/>
          <p:cNvSpPr/>
          <p:nvPr/>
        </p:nvSpPr>
        <p:spPr>
          <a:xfrm>
            <a:off x="457200" y="1280160"/>
            <a:ext cx="457200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label"/>
          <p:cNvSpPr txBox="1"/>
          <p:nvPr/>
        </p:nvSpPr>
        <p:spPr>
          <a:xfrm>
            <a:off x="73152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RESEARCH QUESTION</a:t>
            </a:r>
            <a:endParaRPr lang="en-US" sz="1200" dirty="0"/>
          </a:p>
        </p:txBody>
      </p:sp>
      <p:sp>
        <p:nvSpPr>
          <p:cNvPr id="5" name="Question"/>
          <p:cNvSpPr txBox="1"/>
          <p:nvPr/>
        </p:nvSpPr>
        <p:spPr>
          <a:xfrm>
            <a:off x="731520" y="178308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Does a random forest predict diabetes onset better than a logistic regression baseline?</a:t>
            </a:r>
            <a:endParaRPr lang="en-US" sz="2200" dirty="0"/>
          </a:p>
        </p:txBody>
      </p:sp>
      <p:sp>
        <p:nvSpPr>
          <p:cNvPr id="6" name="Question detail"/>
          <p:cNvSpPr txBox="1"/>
          <p:nvPr/>
        </p:nvSpPr>
        <p:spPr>
          <a:xfrm>
            <a:off x="731520" y="34290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Tested after cleaning hidden missing values, and judged mainly by ROC-AUC and recall on diabetic patients.</a:t>
            </a:r>
            <a:endParaRPr lang="en-US" sz="1400" dirty="0"/>
          </a:p>
        </p:txBody>
      </p:sp>
      <p:sp>
        <p:nvSpPr>
          <p:cNvPr id="7" name="Stat 1"/>
          <p:cNvSpPr txBox="1"/>
          <p:nvPr/>
        </p:nvSpPr>
        <p:spPr>
          <a:xfrm>
            <a:off x="5394960" y="1280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768</a:t>
            </a:r>
            <a:endParaRPr lang="en-US" sz="4400" dirty="0"/>
          </a:p>
        </p:txBody>
      </p:sp>
      <p:sp>
        <p:nvSpPr>
          <p:cNvPr id="8" name="Stat label 1"/>
          <p:cNvSpPr txBox="1"/>
          <p:nvPr/>
        </p:nvSpPr>
        <p:spPr>
          <a:xfrm>
            <a:off x="681228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women of Pima heritage, aged 21+</a:t>
            </a:r>
            <a:endParaRPr lang="en-US" sz="1400" dirty="0"/>
          </a:p>
        </p:txBody>
      </p:sp>
      <p:sp>
        <p:nvSpPr>
          <p:cNvPr id="9" name="Stat 2"/>
          <p:cNvSpPr txBox="1"/>
          <p:nvPr/>
        </p:nvSpPr>
        <p:spPr>
          <a:xfrm>
            <a:off x="5394960" y="2377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8</a:t>
            </a:r>
            <a:endParaRPr lang="en-US" sz="4400" dirty="0"/>
          </a:p>
        </p:txBody>
      </p:sp>
      <p:sp>
        <p:nvSpPr>
          <p:cNvPr id="10" name="Stat label 2"/>
          <p:cNvSpPr txBox="1"/>
          <p:nvPr/>
        </p:nvSpPr>
        <p:spPr>
          <a:xfrm>
            <a:off x="6812280" y="2377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clinical features, e.g. glucose, BMI, age</a:t>
            </a:r>
            <a:endParaRPr lang="en-US" sz="1400" dirty="0"/>
          </a:p>
        </p:txBody>
      </p:sp>
      <p:sp>
        <p:nvSpPr>
          <p:cNvPr id="11" name="Stat 3"/>
          <p:cNvSpPr txBox="1"/>
          <p:nvPr/>
        </p:nvSpPr>
        <p:spPr>
          <a:xfrm>
            <a:off x="5394960" y="34747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35%</a:t>
            </a:r>
            <a:endParaRPr lang="en-US" sz="4400" dirty="0"/>
          </a:p>
        </p:txBody>
      </p:sp>
      <p:sp>
        <p:nvSpPr>
          <p:cNvPr id="12" name="Stat label 3"/>
          <p:cNvSpPr txBox="1"/>
          <p:nvPr/>
        </p:nvSpPr>
        <p:spPr>
          <a:xfrm>
            <a:off x="6812280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have diabetes (268 of 768)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method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text 1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ard head 1"/>
          <p:cNvSpPr txBox="1"/>
          <p:nvPr/>
        </p:nvSpPr>
        <p:spPr>
          <a:xfrm>
            <a:off x="123444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Clean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640080" y="2011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Zeros in glucose, blood pressure, skin thickness, insulin and BMI treated as missing, then filled with training-set medians.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4663440" y="1280160"/>
            <a:ext cx="40233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 text 2"/>
          <p:cNvSpPr txBox="1"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ard head 2"/>
          <p:cNvSpPr txBox="1"/>
          <p:nvPr/>
        </p:nvSpPr>
        <p:spPr>
          <a:xfrm>
            <a:off x="544068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Engineer features</a:t>
            </a:r>
            <a:endParaRPr lang="en-US" sz="1800" dirty="0"/>
          </a:p>
        </p:txBody>
      </p:sp>
      <p:sp>
        <p:nvSpPr>
          <p:cNvPr id="12" name="Card body 2"/>
          <p:cNvSpPr txBox="1"/>
          <p:nvPr/>
        </p:nvSpPr>
        <p:spPr>
          <a:xfrm>
            <a:off x="4846320" y="2011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Missing-value flags, a glucose × BMI term and age groups. 12 features in total.</a:t>
            </a:r>
            <a:endParaRPr lang="en-US" sz="1400" dirty="0"/>
          </a:p>
        </p:txBody>
      </p:sp>
      <p:sp>
        <p:nvSpPr>
          <p:cNvPr id="13" name="Card 3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 text 3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Card head 3"/>
          <p:cNvSpPr txBox="1"/>
          <p:nvPr/>
        </p:nvSpPr>
        <p:spPr>
          <a:xfrm>
            <a:off x="123444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Train two models</a:t>
            </a:r>
            <a:endParaRPr lang="en-US" sz="1800" dirty="0"/>
          </a:p>
        </p:txBody>
      </p:sp>
      <p:sp>
        <p:nvSpPr>
          <p:cNvPr id="17" name="Card body 3"/>
          <p:cNvSpPr txBox="1"/>
          <p:nvPr/>
        </p:nvSpPr>
        <p:spPr>
          <a:xfrm>
            <a:off x="64008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 as the simple baseline, and a 300-tree random forest.</a:t>
            </a:r>
            <a:endParaRPr lang="en-US" sz="1400" dirty="0"/>
          </a:p>
        </p:txBody>
      </p:sp>
      <p:sp>
        <p:nvSpPr>
          <p:cNvPr id="18" name="Card 4"/>
          <p:cNvSpPr/>
          <p:nvPr/>
        </p:nvSpPr>
        <p:spPr>
          <a:xfrm>
            <a:off x="4663440" y="2926080"/>
            <a:ext cx="40233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 text 4"/>
          <p:cNvSpPr txBox="1"/>
          <p:nvPr/>
        </p:nvSpPr>
        <p:spPr>
          <a:xfrm>
            <a:off x="4846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Card head 4"/>
          <p:cNvSpPr txBox="1"/>
          <p:nvPr/>
        </p:nvSpPr>
        <p:spPr>
          <a:xfrm>
            <a:off x="544068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Evaluate</a:t>
            </a:r>
            <a:endParaRPr lang="en-US" sz="1800" dirty="0"/>
          </a:p>
        </p:txBody>
      </p:sp>
      <p:sp>
        <p:nvSpPr>
          <p:cNvPr id="22" name="Card body 4"/>
          <p:cNvSpPr txBox="1"/>
          <p:nvPr/>
        </p:nvSpPr>
        <p:spPr>
          <a:xfrm>
            <a:off x="484632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20% test set (154 patients) for both models, plus 5-fold cross-validation.</a:t>
            </a:r>
            <a:endParaRPr lang="en-US" sz="1400" dirty="0"/>
          </a:p>
        </p:txBody>
      </p:sp>
      <p:sp>
        <p:nvSpPr>
          <p:cNvPr id="23" name="Footnote"/>
          <p:cNvSpPr txBox="1"/>
          <p:nvPr/>
        </p:nvSpPr>
        <p:spPr>
          <a:xfrm>
            <a:off x="457200" y="4617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Split first, then impute and scale using the training set only, to avoid leaking test information.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Results: a close race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5212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inding 1"/>
          <p:cNvSpPr txBox="1"/>
          <p:nvPr/>
        </p:nvSpPr>
        <p:spPr>
          <a:xfrm>
            <a:off x="5852160" y="1234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Tie on the main metric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ROC-AUC is 0.820 for random forest and 0.819 for logistic regression.</a:t>
            </a:r>
            <a:endParaRPr lang="en-US" sz="1600" dirty="0"/>
          </a:p>
        </p:txBody>
      </p:sp>
      <p:sp>
        <p:nvSpPr>
          <p:cNvPr id="5" name="Finding 2"/>
          <p:cNvSpPr txBox="1"/>
          <p:nvPr/>
        </p:nvSpPr>
        <p:spPr>
          <a:xfrm>
            <a:off x="5852160" y="2377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Forest ahead at 0.5 threshold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Recall 0.59 vs 0.52, F1 0.62 vs 0.55.</a:t>
            </a:r>
            <a:endParaRPr lang="en-US" sz="1600" dirty="0"/>
          </a:p>
        </p:txBody>
      </p:sp>
      <p:sp>
        <p:nvSpPr>
          <p:cNvPr id="6" name="Finding 3"/>
          <p:cNvSpPr txBox="1"/>
          <p:nvPr/>
        </p:nvSpPr>
        <p:spPr>
          <a:xfrm>
            <a:off x="5852160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Logistic regression leads in CV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5-fold cross-validated ROC-AUC: 0.847 vs 0.824.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Results: what the models get wrong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ught heading"/>
          <p:cNvSpPr txBox="1"/>
          <p:nvPr/>
        </p:nvSpPr>
        <p:spPr>
          <a:xfrm>
            <a:off x="548640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Diabetic patients caught</a:t>
            </a:r>
            <a:endParaRPr lang="en-US" sz="1600" dirty="0"/>
          </a:p>
        </p:txBody>
      </p:sp>
      <p:sp>
        <p:nvSpPr>
          <p:cNvPr id="5" name="Caught 1"/>
          <p:cNvSpPr txBox="1"/>
          <p:nvPr/>
        </p:nvSpPr>
        <p:spPr>
          <a:xfrm>
            <a:off x="5486400" y="1691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</a:rPr>
              <a:t>28 / 54</a:t>
            </a:r>
            <a:endParaRPr lang="en-US" sz="4000" dirty="0"/>
          </a:p>
        </p:txBody>
      </p:sp>
      <p:sp>
        <p:nvSpPr>
          <p:cNvPr id="6" name="Caught label 1"/>
          <p:cNvSpPr txBox="1"/>
          <p:nvPr/>
        </p:nvSpPr>
        <p:spPr>
          <a:xfrm>
            <a:off x="7269480" y="1691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52% of real cases</a:t>
            </a:r>
            <a:endParaRPr lang="en-US" sz="1400" dirty="0"/>
          </a:p>
        </p:txBody>
      </p:sp>
      <p:sp>
        <p:nvSpPr>
          <p:cNvPr id="7" name="Caught 2"/>
          <p:cNvSpPr txBox="1"/>
          <p:nvPr/>
        </p:nvSpPr>
        <p:spPr>
          <a:xfrm>
            <a:off x="548640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</a:rPr>
              <a:t>32 / 54</a:t>
            </a:r>
            <a:endParaRPr lang="en-US" sz="4000" dirty="0"/>
          </a:p>
        </p:txBody>
      </p:sp>
      <p:sp>
        <p:nvSpPr>
          <p:cNvPr id="8" name="Caught label 2"/>
          <p:cNvSpPr txBox="1"/>
          <p:nvPr/>
        </p:nvSpPr>
        <p:spPr>
          <a:xfrm>
            <a:off x="7269480" y="2880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 forest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59% of real cases</a:t>
            </a:r>
            <a:endParaRPr lang="en-US" sz="1400" dirty="0"/>
          </a:p>
        </p:txBody>
      </p:sp>
      <p:sp>
        <p:nvSpPr>
          <p:cNvPr id="9" name="Insight"/>
          <p:cNvSpPr txBox="1"/>
          <p:nvPr/>
        </p:nvSpPr>
        <p:spPr>
          <a:xfrm>
            <a:off x="5486400" y="4023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Glucose-related features lead, matching earlier studies. Both models still miss many real cases.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Takeaway</a:t>
            </a:r>
            <a:endParaRPr lang="en-US" sz="3200" dirty="0"/>
          </a:p>
        </p:txBody>
      </p:sp>
      <p:sp>
        <p:nvSpPr>
          <p:cNvPr id="3" name="Main takeaway"/>
          <p:cNvSpPr txBox="1"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The extra complexity of a random forest gave no clear advantage on this small dataset.</a:t>
            </a:r>
            <a:endParaRPr lang="en-US" sz="2400" dirty="0"/>
          </a:p>
        </p:txBody>
      </p:sp>
      <p:sp>
        <p:nvSpPr>
          <p:cNvPr id="4" name="Column head 1"/>
          <p:cNvSpPr txBox="1"/>
          <p:nvPr/>
        </p:nvSpPr>
        <p:spPr>
          <a:xfrm>
            <a:off x="457200" y="2286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What we found</a:t>
            </a:r>
            <a:endParaRPr lang="en-US" sz="1800" dirty="0"/>
          </a:p>
        </p:txBody>
      </p:sp>
      <p:sp>
        <p:nvSpPr>
          <p:cNvPr id="5" name="Column body 1"/>
          <p:cNvSpPr txBox="1"/>
          <p:nvPr/>
        </p:nvSpPr>
        <p:spPr>
          <a:xfrm>
            <a:off x="457200" y="27432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ROC-AUC tied: 0.820 vs 0.819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Logistic regression won in cross-validation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Recall only 52% to 59%</a:t>
            </a:r>
            <a:endParaRPr lang="en-US" sz="1600" dirty="0"/>
          </a:p>
        </p:txBody>
      </p:sp>
      <p:sp>
        <p:nvSpPr>
          <p:cNvPr id="6" name="Column head 2"/>
          <p:cNvSpPr txBox="1"/>
          <p:nvPr/>
        </p:nvSpPr>
        <p:spPr>
          <a:xfrm>
            <a:off x="4663440" y="2286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Limits and next steps</a:t>
            </a:r>
            <a:endParaRPr lang="en-US" sz="1800" dirty="0"/>
          </a:p>
        </p:txBody>
      </p:sp>
      <p:sp>
        <p:nvSpPr>
          <p:cNvPr id="7" name="Column body 2"/>
          <p:cNvSpPr txBox="1"/>
          <p:nvPr/>
        </p:nvSpPr>
        <p:spPr>
          <a:xfrm>
            <a:off x="4663440" y="27432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Only 154 test patients, one population, no tuning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Lower the threshold to raise recall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Try gradient boosting and validate on more data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betes Study">
  <a:themeElements>
    <a:clrScheme name="Diabetes Study">
      <a:dk1>
        <a:srgbClr val="1B2A33"/>
      </a:dk1>
      <a:lt1>
        <a:srgbClr val="FFFFFF"/>
      </a:lt1>
      <a:dk2>
        <a:srgbClr val="0B3C49"/>
      </a:dk2>
      <a:lt2>
        <a:srgbClr val="EEF3F4"/>
      </a:lt2>
      <a:accent1>
        <a:srgbClr val="0E7C86"/>
      </a:accent1>
      <a:accent2>
        <a:srgbClr val="E4572E"/>
      </a:accent2>
      <a:accent3>
        <a:srgbClr val="F2B134"/>
      </a:accent3>
      <a:accent4>
        <a:srgbClr val="5B7B8A"/>
      </a:accent4>
      <a:accent5>
        <a:srgbClr val="7FB7BE"/>
      </a:accent5>
      <a:accent6>
        <a:srgbClr val="A23E48"/>
      </a:accent6>
      <a:hlink>
        <a:srgbClr val="0E7C86"/>
      </a:hlink>
      <a:folHlink>
        <a:srgbClr val="5B7B8A"/>
      </a:folHlink>
    </a:clrScheme>
    <a:fontScheme name="Diabetes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Diabetes Onset: Logistic Regression vs Random Forest</dc:title>
  <dc:subject>PptxGenJS Presentation</dc:subject>
  <dc:creator>PptxGenJS</dc:creator>
  <cp:lastModifiedBy>PptxGenJS</cp:lastModifiedBy>
  <cp:revision>1</cp:revision>
  <dcterms:created xsi:type="dcterms:W3CDTF">2026-10-17T17:54:31Z</dcterms:created>
  <dcterms:modified xsi:type="dcterms:W3CDTF">2026-10-17T17:54:31Z</dcterms:modified>
</cp:coreProperties>
</file>